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2E"/>
                </a:solidFill>
              </a:defRPr>
            </a:pPr>
            <a:r>
              <a:t>需求管理系统 — 需求字段对照表生成流程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</a:defRPr>
            </a:pPr>
            <a:r>
              <a:t>Demand Evaluation  →  API Match  →  Field Mapping Excel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5CE7"/>
                </a:solidFill>
              </a:defRPr>
            </a:pPr>
            <a:r>
              <a:t>① 需求输入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① Excel导入/页面录入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2618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C757D"/>
                </a:solidFill>
              </a:defRPr>
            </a:pPr>
            <a:r>
              <a:t>支持标准模板导入：序号、程序代号、程序名称、系统代号、规格说明、客制类型、难度等级、开发分类、集成产品编号、TB单号、急单、备注</a:t>
            </a:r>
          </a:p>
          <a:p>
            <a:pPr>
              <a:spcAft>
                <a:spcPts val="200"/>
              </a:spcAft>
              <a:defRPr sz="900" b="0">
                <a:solidFill>
                  <a:srgbClr val="6C5CE7"/>
                </a:solidFill>
              </a:defRPr>
            </a:pPr>
            <a:r>
              <a:t>→ 写入 demand_evaluation 表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97880" y="1920240"/>
            <a:ext cx="274320" cy="274320"/>
          </a:xfrm>
          <a:prstGeom prst="downArrow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5CE7"/>
                </a:solidFill>
              </a:defRPr>
            </a:pPr>
            <a:r>
              <a:t>② 接口匹配（核心引擎）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11247120" cy="1051560"/>
          </a:xfrm>
          <a:prstGeom prst="roundRect">
            <a:avLst>
              <a:gd name="adj" fmla="val 5000"/>
            </a:avLst>
          </a:prstGeom>
          <a:solidFill>
            <a:srgbClr val="F0EDFF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963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5CE7"/>
                </a:solidFill>
              </a:defRPr>
            </a:pPr>
            <a:r>
              <a:t>② ApiMatchService.matchAll()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43200"/>
            <a:ext cx="329184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33333"/>
                </a:solidFill>
              </a:defRPr>
            </a:pPr>
            <a:r>
              <a:t>匹配规则</a:t>
            </a:r>
          </a:p>
          <a:p>
            <a:pPr>
              <a:spcAft>
                <a:spcPts val="200"/>
              </a:spcAft>
              <a:defRPr sz="900" b="0">
                <a:solidFill>
                  <a:srgbClr val="6C757D"/>
                </a:solidFill>
              </a:defRPr>
            </a:pPr>
            <a:r>
              <a:t>程序代号 + 程序名称 → 精确匹配流程名称</a:t>
            </a:r>
          </a:p>
          <a:p>
            <a:pPr>
              <a:spcAft>
                <a:spcPts val="200"/>
              </a:spcAft>
              <a:defRPr sz="800" b="0">
                <a:solidFill>
                  <a:srgbClr val="6C5CE7"/>
                </a:solidFill>
              </a:defRPr>
            </a:pPr>
            <a:r>
              <a:t>如: axmt540 + 创建出货单 → axmt540创建出货单-客制新增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2743200"/>
            <a:ext cx="329184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7889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33333"/>
                </a:solidFill>
              </a:defRPr>
            </a:pPr>
            <a:r>
              <a:t>数据源（启动预加载 + 缓存）</a:t>
            </a:r>
          </a:p>
          <a:p>
            <a:pPr>
              <a:spcAft>
                <a:spcPts val="200"/>
              </a:spcAft>
              <a:defRPr sz="900" b="0">
                <a:solidFill>
                  <a:srgbClr val="6C757D"/>
                </a:solidFill>
              </a:defRPr>
            </a:pPr>
            <a:r>
              <a:t>接口清单: 【2026】接口清单---汇总.xlsx (5min)</a:t>
            </a:r>
          </a:p>
          <a:p>
            <a:pPr>
              <a:spcAft>
                <a:spcPts val="200"/>
              </a:spcAft>
              <a:defRPr sz="900" b="0">
                <a:solidFill>
                  <a:srgbClr val="6C757D"/>
                </a:solidFill>
              </a:defRPr>
            </a:pPr>
            <a:r>
              <a:t>字段对照: 【2026】字段对照---最小颗粒度.xlsx (30min)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743200"/>
            <a:ext cx="329184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7889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33333"/>
                </a:solidFill>
              </a:defRPr>
            </a:pPr>
            <a:r>
              <a:t>AI 兜底匹配</a:t>
            </a:r>
          </a:p>
          <a:p>
            <a:pPr>
              <a:spcAft>
                <a:spcPts val="200"/>
              </a:spcAft>
              <a:defRPr sz="900" b="0">
                <a:solidFill>
                  <a:srgbClr val="6C757D"/>
                </a:solidFill>
              </a:defRPr>
            </a:pPr>
            <a:r>
              <a:t>本地规则失败 → Kimi API 语义匹配</a:t>
            </a:r>
          </a:p>
          <a:p>
            <a:pPr>
              <a:spcAft>
                <a:spcPts val="200"/>
              </a:spcAft>
              <a:defRPr sz="800" b="0">
                <a:solidFill>
                  <a:srgbClr val="6C5CE7"/>
                </a:solidFill>
              </a:defRPr>
            </a:pPr>
            <a:r>
              <a:t>输出: MatchResult { flowName, direction, score }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897880" y="3566160"/>
            <a:ext cx="274320" cy="274320"/>
          </a:xfrm>
          <a:prstGeom prst="downArrow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94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</a:defRPr>
            </a:pPr>
            <a:r>
              <a:t>③ 字段对照工作表查找 &amp; 复制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ECFDF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50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</a:defRPr>
            </a:pPr>
            <a:r>
              <a:t>③ findFieldMappingSheet() → copySheet()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97680"/>
            <a:ext cx="530352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2511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33333"/>
                </a:solidFill>
              </a:defRPr>
            </a:pPr>
            <a:r>
              <a:t>匹配优先级</a:t>
            </a:r>
          </a:p>
          <a:p>
            <a:pPr>
              <a:spcAft>
                <a:spcPts val="200"/>
              </a:spcAft>
              <a:defRPr sz="900" b="0">
                <a:solidFill>
                  <a:srgbClr val="6C757D"/>
                </a:solidFill>
              </a:defRPr>
            </a:pPr>
            <a:r>
              <a:t>1. 精确匹配: 工作表名 == 流程名称</a:t>
            </a:r>
          </a:p>
          <a:p>
            <a:pPr>
              <a:spcAft>
                <a:spcPts val="200"/>
              </a:spcAft>
              <a:defRPr sz="900" b="0">
                <a:solidFill>
                  <a:srgbClr val="6C757D"/>
                </a:solidFill>
              </a:defRPr>
            </a:pPr>
            <a:r>
              <a:t>2. 程序代号匹配: 工作表名 == 程序代号</a:t>
            </a:r>
          </a:p>
          <a:p>
            <a:pPr>
              <a:spcAft>
                <a:spcPts val="200"/>
              </a:spcAft>
              <a:defRPr sz="900" b="0">
                <a:solidFill>
                  <a:srgbClr val="6C757D"/>
                </a:solidFill>
              </a:defRPr>
            </a:pPr>
            <a:r>
              <a:t>3. 模糊匹配: 工作表名包含程序代号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97680"/>
            <a:ext cx="539496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32511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33333"/>
                </a:solidFill>
              </a:defRPr>
            </a:pPr>
            <a:r>
              <a:t>过滤规则 &amp; 性能优化</a:t>
            </a:r>
          </a:p>
          <a:p>
            <a:pPr>
              <a:spcAft>
                <a:spcPts val="200"/>
              </a:spcAft>
              <a:defRPr sz="900" b="0">
                <a:solidFill>
                  <a:srgbClr val="6C757D"/>
                </a:solidFill>
              </a:defRPr>
            </a:pPr>
            <a:r>
              <a:t>创建类型优先，排除"过账/更新"类型工作表</a:t>
            </a:r>
          </a:p>
          <a:p>
            <a:pPr>
              <a:spcAft>
                <a:spcPts val="200"/>
              </a:spcAft>
              <a:defRPr sz="900" b="0">
                <a:solidFill>
                  <a:srgbClr val="6C757D"/>
                </a:solidFill>
              </a:defRPr>
            </a:pPr>
            <a:r>
              <a:t>样式缓存: Map&lt;源样式索引, CellStyle&gt; 避免重复创建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897880" y="4983480"/>
            <a:ext cx="274320" cy="274320"/>
          </a:xfrm>
          <a:prstGeom prst="downArrow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212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④ 综合 Excel 生成（后端 Apache POI）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468112"/>
            <a:ext cx="5394960" cy="320040"/>
          </a:xfrm>
          <a:prstGeom prst="roundRect">
            <a:avLst>
              <a:gd name="adj" fmla="val 5000"/>
            </a:avLst>
          </a:prstGeom>
          <a:solidFill>
            <a:srgbClr val="EBF5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955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</a:defRPr>
            </a:pPr>
            <a:r>
              <a:t>🔵 API匹配导出: 前端传 demands → 后端一步生成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5468112"/>
            <a:ext cx="5577840" cy="320040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54955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</a:defRPr>
            </a:pPr>
            <a:r>
              <a:t>🟡 AI智能分析导出: 先调AI分析 → 再传 demands + aiData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879592"/>
            <a:ext cx="2103120" cy="685800"/>
          </a:xfrm>
          <a:prstGeom prst="roundRect">
            <a:avLst>
              <a:gd name="adj" fmla="val 5000"/>
            </a:avLst>
          </a:prstGeom>
          <a:solidFill>
            <a:srgbClr val="EBF5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925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📋 输入物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1539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C757D"/>
                </a:solidFill>
              </a:defRPr>
            </a:pPr>
            <a:r>
              <a:t>需求匹配结果</a:t>
            </a:r>
            <a:br/>
            <a:r>
              <a:t>匹配状态/流程/匹配度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5879592"/>
            <a:ext cx="2103120" cy="685800"/>
          </a:xfrm>
          <a:prstGeom prst="roundRect">
            <a:avLst>
              <a:gd name="adj" fmla="val 5000"/>
            </a:avLst>
          </a:prstGeom>
          <a:solidFill>
            <a:srgbClr val="F0EDFF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88920" y="5925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C5CE7"/>
                </a:solidFill>
              </a:defRPr>
            </a:pPr>
            <a:r>
              <a:t>⚙️ 集成配置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61539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C757D"/>
                </a:solidFill>
              </a:defRPr>
            </a:pPr>
            <a:r>
              <a:t>从AI输出物模板复制</a:t>
            </a:r>
            <a:br/>
            <a:r>
              <a:t>标准工作表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37760" y="5879592"/>
            <a:ext cx="2103120" cy="685800"/>
          </a:xfrm>
          <a:prstGeom prst="roundRect">
            <a:avLst>
              <a:gd name="adj" fmla="val 5000"/>
            </a:avLst>
          </a:prstGeom>
          <a:solidFill>
            <a:srgbClr val="ECFDF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5925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</a:defRPr>
            </a:pPr>
            <a:r>
              <a:t>📅 开发计划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61539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C757D"/>
                </a:solidFill>
              </a:defRPr>
            </a:pPr>
            <a:r>
              <a:t>从AI输出物模板复制</a:t>
            </a:r>
            <a:br/>
            <a:r>
              <a:t>标准工作表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78040" y="5879592"/>
            <a:ext cx="2103120" cy="685800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9480" y="5925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📊 字段对照表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61539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C757D"/>
                </a:solidFill>
              </a:defRPr>
            </a:pPr>
            <a:r>
              <a:t>匹配流程的字段映射</a:t>
            </a:r>
            <a:br/>
            <a:r>
              <a:t>最小颗粒度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18320" y="5879592"/>
            <a:ext cx="2103120" cy="685800"/>
          </a:xfrm>
          <a:prstGeom prst="roundRect">
            <a:avLst>
              <a:gd name="adj" fmla="val 5000"/>
            </a:avLst>
          </a:prstGeom>
          <a:solidFill>
            <a:srgbClr val="FDF0F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5925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🤖 AI分析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61539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C757D"/>
                </a:solidFill>
              </a:defRPr>
            </a:pPr>
            <a:r>
              <a:t>智能汇总 + 需求分析</a:t>
            </a:r>
            <a:br/>
            <a:r>
              <a:t>(AI导出模式)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6656832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66842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🔑 关键匹配规则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8580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C757D"/>
                </a:solidFill>
              </a:defRPr>
            </a:pPr>
            <a:r>
              <a:t>1. 程序代号(如axmt540)必须出现在流程名称中 → 否则跳过    2. 程序名称需完全包含在流程名称中 → 联合构成唯一匹配依据    3. 工作表匹配: 优先精确匹配流程名称 → 再按程序代号模糊匹配</a:t>
            </a:r>
          </a:p>
          <a:p>
            <a:pPr>
              <a:spcAft>
                <a:spcPts val="200"/>
              </a:spcAft>
              <a:defRPr sz="800" b="0">
                <a:solidFill>
                  <a:srgbClr val="6C757D"/>
                </a:solidFill>
              </a:defRPr>
            </a:pPr>
            <a:r>
              <a:t>4. 适配类型过滤: 含"创建"且不含"过账/更新"的工作表优先选中    5. 性能优化: 启动预加载Excel + POI样式缓存 + 30min工作簿缓存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